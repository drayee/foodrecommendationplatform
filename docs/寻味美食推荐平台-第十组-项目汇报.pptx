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4114800"/>
            <a:ext cx="4206240" cy="4206240"/>
          </a:xfrm>
          <a:prstGeom prst="ellipse">
            <a:avLst/>
          </a:prstGeom>
          <a:solidFill>
            <a:srgbClr val="24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128016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05840" y="4937760"/>
            <a:ext cx="2651760" cy="2651760"/>
          </a:xfrm>
          <a:prstGeom prst="ellipse">
            <a:avLst/>
          </a:prstGeom>
          <a:solidFill>
            <a:srgbClr val="24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8412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2A3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>
                <a:solidFill>
                  <a:srgbClr val="FFB37A"/>
                </a:solidFill>
                <a:latin typeface="微软雅黑"/>
                <a:ea typeface="微软雅黑"/>
                <a:cs typeface="微软雅黑"/>
              </a:rPr>
              <a:t>第十组 · 课程项目汇报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95097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寻味 · 美食推荐平台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542032"/>
            <a:ext cx="1078992" cy="685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98064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D9BC"/>
                </a:solidFill>
                <a:latin typeface="微软雅黑"/>
                <a:ea typeface="微软雅黑"/>
                <a:cs typeface="微软雅黑"/>
              </a:rPr>
              <a:t>菜谱语义检索　×　个性化混合推荐　×　附近美食发现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10128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0C2"/>
                </a:solidFill>
                <a:latin typeface="微软雅黑"/>
                <a:ea typeface="微软雅黑"/>
                <a:cs typeface="微软雅黑"/>
              </a:rPr>
              <a:t>一个 Django 单项目，两条主线：在家做，出门吃。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0C2"/>
                </a:solidFill>
                <a:latin typeface="微软雅黑"/>
                <a:ea typeface="微软雅黑"/>
                <a:cs typeface="微软雅黑"/>
              </a:rPr>
              <a:t>外部能力全部可降级 —— 没有 API Key、没有大模型、断网也能完成完整演示。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24528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52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0" i="0">
                <a:solidFill>
                  <a:srgbClr val="C9D1E0"/>
                </a:solidFill>
                <a:latin typeface="微软雅黑"/>
                <a:ea typeface="微软雅黑"/>
                <a:cs typeface="微软雅黑"/>
              </a:rPr>
              <a:t>Django 6.1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76856" y="4224528"/>
            <a:ext cx="1548993" cy="310896"/>
          </a:xfrm>
          <a:prstGeom prst="roundRect">
            <a:avLst>
              <a:gd name="adj" fmla="val 50000"/>
            </a:avLst>
          </a:prstGeom>
          <a:solidFill>
            <a:srgbClr val="252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0" i="0">
                <a:solidFill>
                  <a:srgbClr val="C9D1E0"/>
                </a:solidFill>
                <a:latin typeface="微软雅黑"/>
                <a:ea typeface="微软雅黑"/>
                <a:cs typeface="微软雅黑"/>
              </a:rPr>
              <a:t>PostgreSQL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53865" y="4224528"/>
            <a:ext cx="1638604" cy="310896"/>
          </a:xfrm>
          <a:prstGeom prst="roundRect">
            <a:avLst>
              <a:gd name="adj" fmla="val 50000"/>
            </a:avLst>
          </a:prstGeom>
          <a:solidFill>
            <a:srgbClr val="252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0" i="0">
                <a:solidFill>
                  <a:srgbClr val="C9D1E0"/>
                </a:solidFill>
                <a:latin typeface="微软雅黑"/>
                <a:ea typeface="微软雅黑"/>
                <a:cs typeface="微软雅黑"/>
              </a:rPr>
              <a:t>RAG + BM25/RRF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20486" y="4224528"/>
            <a:ext cx="1548993" cy="310896"/>
          </a:xfrm>
          <a:prstGeom prst="roundRect">
            <a:avLst>
              <a:gd name="adj" fmla="val 50000"/>
            </a:avLst>
          </a:prstGeom>
          <a:solidFill>
            <a:srgbClr val="252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0" i="0">
                <a:solidFill>
                  <a:srgbClr val="C9D1E0"/>
                </a:solidFill>
                <a:latin typeface="微软雅黑"/>
                <a:ea typeface="微软雅黑"/>
                <a:cs typeface="微软雅黑"/>
              </a:rPr>
              <a:t>item-CF + MMR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97496" y="4224528"/>
            <a:ext cx="921715" cy="310896"/>
          </a:xfrm>
          <a:prstGeom prst="roundRect">
            <a:avLst>
              <a:gd name="adj" fmla="val 50000"/>
            </a:avLst>
          </a:prstGeom>
          <a:solidFill>
            <a:srgbClr val="252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0" i="0">
                <a:solidFill>
                  <a:srgbClr val="C9D1E0"/>
                </a:solidFill>
                <a:latin typeface="微软雅黑"/>
                <a:ea typeface="微软雅黑"/>
                <a:cs typeface="微软雅黑"/>
              </a:rPr>
              <a:t>高德开放平台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47227" y="4224528"/>
            <a:ext cx="1817827" cy="310896"/>
          </a:xfrm>
          <a:prstGeom prst="roundRect">
            <a:avLst>
              <a:gd name="adj" fmla="val 50000"/>
            </a:avLst>
          </a:prstGeom>
          <a:solidFill>
            <a:srgbClr val="252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0" i="0">
                <a:solidFill>
                  <a:srgbClr val="C9D1E0"/>
                </a:solidFill>
                <a:latin typeface="微软雅黑"/>
                <a:ea typeface="微软雅黑"/>
                <a:cs typeface="微软雅黑"/>
              </a:rPr>
              <a:t>Ollama qwen3:14b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956048"/>
            <a:ext cx="7863840" cy="10972"/>
          </a:xfrm>
          <a:prstGeom prst="rect">
            <a:avLst/>
          </a:prstGeom>
          <a:solidFill>
            <a:srgbClr val="3A4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38928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项目组长　</a:t>
            </a: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孔哲昊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77256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小组成员　</a:t>
            </a: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彭冰钦　姚一飞　贺江涛　倪永硕　易子涵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8598"/>
                </a:solidFill>
                <a:latin typeface="微软雅黑"/>
                <a:ea typeface="微软雅黑"/>
                <a:cs typeface="微软雅黑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42415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汇报目录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从问题出发，讲清我们做了什么、怎么做的、做到什么程度。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502920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25146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97316"/>
                </a:solidFill>
                <a:latin typeface="Segoe UI Semibold"/>
                <a:ea typeface="Segoe UI Semibold"/>
                <a:cs typeface="Segoe UI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2468879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064" y="275234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三个真实痛点：决策成本、推荐失焦、场景割裂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31720"/>
            <a:ext cx="502920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25146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97316"/>
                </a:solidFill>
                <a:latin typeface="Segoe UI Semibold"/>
                <a:ea typeface="Segoe UI Semibold"/>
                <a:cs typeface="Segoe UI Semi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4304" y="2468879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目标与范围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275234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四条可验收的目标与量化口径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300984"/>
            <a:ext cx="502920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" y="348386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97316"/>
                </a:solidFill>
                <a:latin typeface="Segoe UI Semibold"/>
                <a:ea typeface="Segoe UI Semibold"/>
                <a:cs typeface="Segoe UI Semi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5064" y="34381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系统架构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5064" y="372160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六层职责划分与数据流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00984"/>
            <a:ext cx="502920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348386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97316"/>
                </a:solidFill>
                <a:latin typeface="Segoe UI Semibold"/>
                <a:ea typeface="Segoe UI Semibold"/>
                <a:cs typeface="Segoe UI Semibol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4" y="34381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核心功能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304" y="372160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找菜主线 / 找店主线 双线并进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270248"/>
            <a:ext cx="502920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44531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97316"/>
                </a:solidFill>
                <a:latin typeface="Segoe UI Semibold"/>
                <a:ea typeface="Segoe UI Semibold"/>
                <a:cs typeface="Segoe UI Semibol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5064" y="440740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算法设计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55064" y="469087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RAG 混合检索 与 四路混合推荐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270248"/>
            <a:ext cx="502920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4531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97316"/>
                </a:solidFill>
                <a:latin typeface="Segoe UI Semibold"/>
                <a:ea typeface="Segoe UI Semibold"/>
                <a:cs typeface="Segoe UI Semibold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4304" y="440740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工程质量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4304" y="469087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降级矩阵、测试体系、契约驱动协作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239512"/>
            <a:ext cx="502920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8136" y="542239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97316"/>
                </a:solidFill>
                <a:latin typeface="Segoe UI Semibold"/>
                <a:ea typeface="Segoe UI Semibold"/>
                <a:cs typeface="Segoe UI Semibold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55064" y="5376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数据与演示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55064" y="5660136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规模看板与三大界面实拍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5239512"/>
            <a:ext cx="502920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7376" y="542239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97316"/>
                </a:solidFill>
                <a:latin typeface="Segoe UI Semibold"/>
                <a:ea typeface="Segoe UI Semibold"/>
                <a:cs typeface="Segoe UI Semibold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04304" y="5376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团队与总结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5660136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分工、难点对策、不足与展望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6336792"/>
            <a:ext cx="11064240" cy="10972"/>
          </a:xfrm>
          <a:prstGeom prst="rect">
            <a:avLst/>
          </a:prstGeom>
          <a:solidFill>
            <a:srgbClr val="EB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寻味 · 美食推荐平台　|　第十组项目汇报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641908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Segoe UI Semibold"/>
                <a:ea typeface="Segoe UI Semibold"/>
                <a:cs typeface="Segoe UI Semibold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68580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859536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项目背景：一顿饭的三个卡点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548640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01 /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我们要解决的不是「有没有菜谱」，而是「决定吃什么」这件事本身太贵。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36792"/>
            <a:ext cx="11064240" cy="10972"/>
          </a:xfrm>
          <a:prstGeom prst="rect">
            <a:avLst/>
          </a:prstGeom>
          <a:solidFill>
            <a:srgbClr val="EB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寻味 · 美食推荐平台　|　第十组项目汇报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Segoe UI Semibold"/>
                <a:ea typeface="Segoe UI Semibold"/>
                <a:cs typeface="Segoe UI Semibold"/>
              </a:rPr>
              <a:t>03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6812280" cy="1371600"/>
          </a:xfrm>
          <a:prstGeom prst="roundRect">
            <a:avLst>
              <a:gd name="adj" fmla="val 6000"/>
            </a:avLst>
          </a:prstGeom>
          <a:solidFill>
            <a:srgbClr val="FFF7F0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37360"/>
            <a:ext cx="50292" cy="859536"/>
          </a:xfrm>
          <a:prstGeom prst="rect">
            <a:avLst/>
          </a:prstGeom>
          <a:solidFill>
            <a:srgbClr val="FF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64208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97316"/>
                </a:solidFill>
                <a:latin typeface="Segoe UI Semibold"/>
                <a:ea typeface="Segoe UI Semibold"/>
                <a:cs typeface="Segoe UI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682496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决策成本：站在冰箱前的一小时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048256"/>
            <a:ext cx="58521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菜谱平台以目录和关键词为核心，用户检索「20 分钟、冰箱现有的食材、微辣」这类复合需求时，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只能自己一页页翻。真正稀缺的不是菜谱，而是能直接落到方案上的建议。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999232"/>
            <a:ext cx="6812280" cy="1371600"/>
          </a:xfrm>
          <a:prstGeom prst="roundRect">
            <a:avLst>
              <a:gd name="adj" fmla="val 6000"/>
            </a:avLst>
          </a:prstGeom>
          <a:solidFill>
            <a:srgbClr val="FFF7F0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255264"/>
            <a:ext cx="50292" cy="859536"/>
          </a:xfrm>
          <a:prstGeom prst="rect">
            <a:avLst/>
          </a:prstGeom>
          <a:solidFill>
            <a:srgbClr val="FF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182112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97316"/>
                </a:solidFill>
                <a:latin typeface="Segoe UI Semibold"/>
                <a:ea typeface="Segoe UI Semibold"/>
                <a:cs typeface="Segoe UI Semi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200400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推荐失焦：千人一面的榜单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566160"/>
            <a:ext cx="58521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大量产品只按热度或最新排序，忽略口味偏好、忌口、可用时长与人均预算。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结果是大盘数据好看的榜单，对「我」这个人却几乎无效，越刷越同质。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517136"/>
            <a:ext cx="6812280" cy="1371600"/>
          </a:xfrm>
          <a:prstGeom prst="roundRect">
            <a:avLst>
              <a:gd name="adj" fmla="val 6000"/>
            </a:avLst>
          </a:prstGeom>
          <a:solidFill>
            <a:srgbClr val="FFF7F0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773168"/>
            <a:ext cx="50292" cy="859536"/>
          </a:xfrm>
          <a:prstGeom prst="rect">
            <a:avLst/>
          </a:prstGeom>
          <a:solidFill>
            <a:srgbClr val="FF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700016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97316"/>
                </a:solidFill>
                <a:latin typeface="Segoe UI Semibold"/>
                <a:ea typeface="Segoe UI Semibold"/>
                <a:cs typeface="Segoe UI Semibol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71830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场景割裂：会做菜，却不知去哪吃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5084064"/>
            <a:ext cx="58521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菜谱社区不关心附近哪家店做得好，探店点评又给不出这道菜该怎么做。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一次「吃」的决策被拆到两个 App 里，还要自己拼。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1481328"/>
            <a:ext cx="3931920" cy="4279392"/>
          </a:xfrm>
          <a:prstGeom prst="roundRect">
            <a:avLst>
              <a:gd name="adj" fmla="val 5000"/>
            </a:avLst>
          </a:prstGeom>
          <a:solidFill>
            <a:srgbClr val="1B2030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73568" y="1755648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37A"/>
                </a:solidFill>
                <a:latin typeface="微软雅黑"/>
                <a:ea typeface="微软雅黑"/>
                <a:cs typeface="微软雅黑"/>
              </a:rPr>
              <a:t>我们的答案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201168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一个平台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两条主线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1856" y="2889504"/>
            <a:ext cx="68580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91856" y="31272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D9BC"/>
                </a:solidFill>
                <a:latin typeface="微软雅黑"/>
                <a:ea typeface="微软雅黑"/>
                <a:cs typeface="微软雅黑"/>
              </a:rPr>
              <a:t>在家做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1856" y="3419856"/>
            <a:ext cx="334670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7"/>
                </a:solidFill>
                <a:latin typeface="微软雅黑"/>
                <a:ea typeface="微软雅黑"/>
                <a:cs typeface="微软雅黑"/>
              </a:rPr>
              <a:t>菜谱库 + 语义检索 + 混合推荐 + AI 助手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1856" y="4059935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D9BC"/>
                </a:solidFill>
                <a:latin typeface="微软雅黑"/>
                <a:ea typeface="微软雅黑"/>
                <a:cs typeface="微软雅黑"/>
              </a:rPr>
              <a:t>出门吃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4352544"/>
            <a:ext cx="334670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7"/>
                </a:solidFill>
                <a:latin typeface="微软雅黑"/>
                <a:ea typeface="微软雅黑"/>
                <a:cs typeface="微软雅黑"/>
              </a:rPr>
              <a:t>附近 POI + 五路排序 + 地图导航 + 打卡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91856" y="5029200"/>
            <a:ext cx="334670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98AC"/>
                </a:solidFill>
                <a:latin typeface="微软雅黑"/>
                <a:ea typeface="微软雅黑"/>
                <a:cs typeface="微软雅黑"/>
              </a:rPr>
              <a:t>统一账号体系与行为埋点：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98AC"/>
                </a:solidFill>
                <a:latin typeface="微软雅黑"/>
                <a:ea typeface="微软雅黑"/>
                <a:cs typeface="微软雅黑"/>
              </a:rPr>
              <a:t>两条主线共享同一份口味画像。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68580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859536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目标与范围：四条可验收的目标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548640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02 /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每条目标都对应一个可量化、可演示的验收口径，而不是「做一个美食平台」这种空话。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36792"/>
            <a:ext cx="11064240" cy="10972"/>
          </a:xfrm>
          <a:prstGeom prst="rect">
            <a:avLst/>
          </a:prstGeom>
          <a:solidFill>
            <a:srgbClr val="EB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寻味 · 美食推荐平台　|　第十组项目汇报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Segoe UI Semibold"/>
                <a:ea typeface="Segoe UI Semibold"/>
                <a:cs typeface="Segoe UI Semibold"/>
              </a:rPr>
              <a:t>04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5431536" cy="1682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63040"/>
            <a:ext cx="54864" cy="16824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682496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664208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找得快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199339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97316"/>
                </a:solidFill>
                <a:latin typeface="微软雅黑"/>
                <a:ea typeface="微软雅黑"/>
                <a:cs typeface="微软雅黑"/>
              </a:rPr>
              <a:t>一句话完成检索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331720"/>
            <a:ext cx="4937760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自然语言输入直接命中意图：「想吃点辣的」「20 分钟快手菜」「减脂餐」。语义检索 + 标签召回双通道，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不依赖用户学会分类目录。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463040"/>
            <a:ext cx="5431536" cy="1682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463040"/>
            <a:ext cx="54864" cy="1682496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19088" y="1682496"/>
            <a:ext cx="365760" cy="365760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664208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推得准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99339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9B8E"/>
                </a:solidFill>
                <a:latin typeface="微软雅黑"/>
                <a:ea typeface="微软雅黑"/>
                <a:cs typeface="微软雅黑"/>
              </a:rPr>
              <a:t>四路加权 + 去同质化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331720"/>
            <a:ext cx="4937760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内容画像 0.45 + 协同过滤 0.30 + 热度 0.15 + 新鲜度 0.10；MMR 控制一屏内的菜系多样性，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新用户冷启动自动兜底。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282696"/>
            <a:ext cx="5431536" cy="1682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282696"/>
            <a:ext cx="54864" cy="1682496"/>
          </a:xfrm>
          <a:prstGeom prst="rect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3502152"/>
            <a:ext cx="365760" cy="365760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3483864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找得到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381304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B7DD8"/>
                </a:solidFill>
                <a:latin typeface="微软雅黑"/>
                <a:ea typeface="微软雅黑"/>
                <a:cs typeface="微软雅黑"/>
              </a:rPr>
              <a:t>3 公里内的真实门店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151376"/>
            <a:ext cx="4937760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GPS → 逆地理 → IP 兜底 → 默认位置四级定位；距离 / 评分 / 人均 / 品类四维筛选，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地图标记与列表联动，一键导航。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6" y="3282696"/>
            <a:ext cx="5431536" cy="1682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63056" y="3282696"/>
            <a:ext cx="54864" cy="16824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19088" y="3502152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483864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跑得稳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81304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5CF6"/>
                </a:solidFill>
                <a:latin typeface="微软雅黑"/>
                <a:ea typeface="微软雅黑"/>
                <a:cs typeface="微软雅黑"/>
              </a:rPr>
              <a:t>全链路可降级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4151376"/>
            <a:ext cx="4937760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无高德 Key、无大模型、无外网、无索引时功能退化而不报错；零配置即可完成完整演示。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138928"/>
            <a:ext cx="11027664" cy="868680"/>
          </a:xfrm>
          <a:prstGeom prst="roundRect">
            <a:avLst>
              <a:gd name="adj" fmla="val 5000"/>
            </a:avLst>
          </a:prstGeom>
          <a:solidFill>
            <a:srgbClr val="FF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528523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验收口径　</a:t>
            </a:r>
            <a:r>
              <a:rPr sz="105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62 道菜谱全部可检索　·　39 个 REST 接口可调　·　196 项测试全绿　·　断网仍有离线样例　·　首屏交互 &lt; 2s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68580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859536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系统架构：六层职责，一个 Django 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548640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03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单项目多 app，不引入 DRF；每层只依赖下一层的契约，任何外部能力都收口在能力层。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36792"/>
            <a:ext cx="11064240" cy="10972"/>
          </a:xfrm>
          <a:prstGeom prst="rect">
            <a:avLst/>
          </a:prstGeom>
          <a:solidFill>
            <a:srgbClr val="EB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寻味 · 美食推荐平台　|　第十组项目汇报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Segoe UI Semibold"/>
                <a:ea typeface="Segoe UI Semibold"/>
                <a:cs typeface="Segoe UI Semibold"/>
              </a:rPr>
              <a:t>05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17320"/>
            <a:ext cx="1298448" cy="658368"/>
          </a:xfrm>
          <a:prstGeom prst="roundRect">
            <a:avLst>
              <a:gd name="adj" fmla="val 5000"/>
            </a:avLst>
          </a:prstGeom>
          <a:solidFill>
            <a:srgbClr val="3C4663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600200"/>
            <a:ext cx="12984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展示层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75104" y="1417320"/>
            <a:ext cx="781812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9696" y="1490472"/>
            <a:ext cx="749807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Vue 3 全局构建（无打包步骤）· 暖色设计系统 · 单页壳 + 5 个业务视图 · SSE 流式渲染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30384" y="16184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static/ templates/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180844"/>
            <a:ext cx="1298448" cy="658368"/>
          </a:xfrm>
          <a:prstGeom prst="roundRect">
            <a:avLst>
              <a:gd name="adj" fmla="val 5000"/>
            </a:avLst>
          </a:prstGeom>
          <a:solidFill>
            <a:srgbClr val="D95F0A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363724"/>
            <a:ext cx="12984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接口层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75104" y="2180844"/>
            <a:ext cx="781812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39696" y="2253996"/>
            <a:ext cx="749807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39 个 REST 接口（25 + 14）· 统一 {code, msg, data} · 函数视图 + JsonResponse · 登录 / CSRF / 限流装饰器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30384" y="23820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food/api_urls.py places/urls.py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944368"/>
            <a:ext cx="1298448" cy="658368"/>
          </a:xfrm>
          <a:prstGeom prst="roundRect">
            <a:avLst>
              <a:gd name="adj" fmla="val 5000"/>
            </a:avLst>
          </a:prstGeom>
          <a:solidFill>
            <a:srgbClr val="2F6FB5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127248"/>
            <a:ext cx="12984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75104" y="2944368"/>
            <a:ext cx="781812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3017520"/>
            <a:ext cx="749807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food：认证 · 菜谱 · 搜索 · 推荐 · 助手 · 后台　|　places：POI · 收藏 · 打卡 · Key 池 · 排序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0384" y="31455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food/ places/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707891"/>
            <a:ext cx="1298448" cy="658368"/>
          </a:xfrm>
          <a:prstGeom prst="roundRect">
            <a:avLst>
              <a:gd name="adj" fmla="val 5000"/>
            </a:avLst>
          </a:prstGeom>
          <a:solidFill>
            <a:srgbClr val="0F9B8E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890772"/>
            <a:ext cx="12984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算法层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75104" y="3707891"/>
            <a:ext cx="781812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39696" y="3781044"/>
            <a:ext cx="749807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rag：中文切分 / hashing 向量 / BM25 / RRF　·　recommend：热度 / 画像 / item-CF / MMR　·　websearch：多引擎 + JSON-LD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0384" y="390905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rag/ recommend/ websearch/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471416"/>
            <a:ext cx="1298448" cy="658368"/>
          </a:xfrm>
          <a:prstGeom prst="roundRect">
            <a:avLst>
              <a:gd name="adj" fmla="val 5000"/>
            </a:avLst>
          </a:prstGeom>
          <a:solidFill>
            <a:srgbClr val="7C5CD6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654296"/>
            <a:ext cx="12984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能力层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75104" y="4471416"/>
            <a:ext cx="781812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39696" y="4544568"/>
            <a:ext cx="749807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LLM 客户端（OpenAI 兼容，可换网关）· 高德 Web/JS Key 池 + 冷却调度 · 邮件服务 · 多引擎 HTTP 客户端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0384" y="4672583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RAGDjange/ places/keypool.py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234940"/>
            <a:ext cx="1298448" cy="658368"/>
          </a:xfrm>
          <a:prstGeom prst="roundRect">
            <a:avLst>
              <a:gd name="adj" fmla="val 5000"/>
            </a:avLst>
          </a:prstGeom>
          <a:solidFill>
            <a:srgbClr val="8A6A4F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417820"/>
            <a:ext cx="12984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75104" y="5234940"/>
            <a:ext cx="781812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39696" y="5308092"/>
            <a:ext cx="749807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PostgreSQL 18（可切 SQLite / MySQL）· 种子 JSON · 向量索引文件 · 离线 fixtures · 行为与搜索日志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5436107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data/seed/ data/index/ fixtures/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053327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数据流：Vue 视图 → axios(统一拆包) → 接口层校验 → 服务层组装 → 算法层打分 → 外部能力(带缓存/降级) → PostgreSQL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68580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859536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核心功能 · 主线一：在家做（找菜）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548640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04 /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从「有菜谱」到「懂你想吃什么」：数据 → 检索 → 推荐 → 对话 → 采集，形成闭环。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36792"/>
            <a:ext cx="11064240" cy="10972"/>
          </a:xfrm>
          <a:prstGeom prst="rect">
            <a:avLst/>
          </a:prstGeom>
          <a:solidFill>
            <a:srgbClr val="EB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寻味 · 美食推荐平台　|　第十组项目汇报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Segoe UI Semibold"/>
                <a:ea typeface="Segoe UI Semibold"/>
                <a:cs typeface="Segoe UI Semibold"/>
              </a:rPr>
              <a:t>06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3602736" cy="2084831"/>
          </a:xfrm>
          <a:prstGeom prst="roundRect">
            <a:avLst>
              <a:gd name="adj" fmla="val 7000"/>
            </a:avLst>
          </a:prstGeom>
          <a:solidFill>
            <a:srgbClr val="FFF7F0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1719072"/>
            <a:ext cx="310896" cy="3108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5" y="1700784"/>
            <a:ext cx="273405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菜谱库（真实数据）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39696"/>
            <a:ext cx="3054096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62 道真实菜谱 · 12 菜系 · 34 标签 · 132 食材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553 条食材用量、356 个制作步骤、热量与营养估算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全部由 seed_data 幂等灌入，可重复重建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481328"/>
            <a:ext cx="3602736" cy="2084831"/>
          </a:xfrm>
          <a:prstGeom prst="roundRect">
            <a:avLst>
              <a:gd name="adj" fmla="val 7000"/>
            </a:avLst>
          </a:prstGeom>
          <a:solidFill>
            <a:srgbClr val="FFF7F0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08576" y="1719072"/>
            <a:ext cx="310896" cy="3108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1700784"/>
            <a:ext cx="273405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语义检索（自研 RAG）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139696"/>
            <a:ext cx="3054096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中文 1–3 gram 切分 + hashing TF-IDF(1024 维) 与 BM25 双路召回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RRF 融合排序，命中块携带菜系/标签/时长元信息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零模型依赖，可选接 Ollama embedding 升级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481328"/>
            <a:ext cx="3602736" cy="2084831"/>
          </a:xfrm>
          <a:prstGeom prst="roundRect">
            <a:avLst>
              <a:gd name="adj" fmla="val 7000"/>
            </a:avLst>
          </a:prstGeom>
          <a:solidFill>
            <a:srgbClr val="FFF7F0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94191" y="1719072"/>
            <a:ext cx="310896" cy="3108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1700784"/>
            <a:ext cx="273405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混合推荐（可解释）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39696"/>
            <a:ext cx="3054096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内容画像 / item-CF / 热度衰减 / 新鲜度四路加权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MMR 去同质化，每条结果都带一句中文推荐理由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冷启动无行为数据时自动切换热度 + 菜系多样性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712463"/>
            <a:ext cx="5431536" cy="178308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3950207"/>
            <a:ext cx="310896" cy="310896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5" y="3931920"/>
            <a:ext cx="456285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AI 美食助手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370831"/>
            <a:ext cx="4882896" cy="9966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SSE 流式对话 + 引用溯源（点开即回到菜谱原文）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5 类工具调用：检索 / 推荐 / 联网 / 统计 / 邮件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模型不可用时降级为「检索式回答」，功能不中断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3712463"/>
            <a:ext cx="5431536" cy="178308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3950207"/>
            <a:ext cx="310896" cy="310896"/>
          </a:xfrm>
          <a:prstGeom prst="ellipse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3931920"/>
            <a:ext cx="456285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联网菜谱采集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370831"/>
            <a:ext cx="4882896" cy="9966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DDG / Bing / 360 多引擎搜索，失败自动切换下一个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解析 schema.org Recipe（含 @graph 嵌套），统一结构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按 source_url 去重入库，管理与命令双入口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68580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859536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核心功能 · 主线二：出门吃（找店）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548640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04 /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接入高德 POI 的真实门店：定位 → 搜索 → 排序 → 地图 → 到店资产，全链路含配额与降级处理。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36792"/>
            <a:ext cx="11064240" cy="10972"/>
          </a:xfrm>
          <a:prstGeom prst="rect">
            <a:avLst/>
          </a:prstGeom>
          <a:solidFill>
            <a:srgbClr val="EB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寻味 · 美食推荐平台　|　第十组项目汇报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Segoe UI Semibold"/>
                <a:ea typeface="Segoe UI Semibold"/>
                <a:cs typeface="Segoe UI Semibold"/>
              </a:rPr>
              <a:t>07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5431536" cy="14447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1700784"/>
            <a:ext cx="310896" cy="310896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5" y="1682496"/>
            <a:ext cx="456285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四级定位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21408"/>
            <a:ext cx="4882896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浏览器 GPS → 高德逆地理（省市区/商圈）→ IP 定位 → 默认位置。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任一级失败自动下沉，保证「总有数据可显示」。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463040"/>
            <a:ext cx="5431536" cy="14447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19088" y="1700784"/>
            <a:ext cx="310896" cy="310896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1424" y="1682496"/>
            <a:ext cx="456285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周边搜索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121408"/>
            <a:ext cx="4882896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餐饮大类 050000，半径 500m–10km 可调；品类 / 关键词 / 人均预算筛选；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POI 结果 10 分钟缓存，不长期落库（避免过期脏数据）。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035808"/>
            <a:ext cx="5431536" cy="14447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273552"/>
            <a:ext cx="310896" cy="310896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" y="3255264"/>
            <a:ext cx="456285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五路智能排序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694176"/>
            <a:ext cx="4882896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距离衰减 × 评分 × 人均预算匹配 × 口味画像 × 近期热度，五路加权且权重可配；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排序单调性有单元测试守护。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035808"/>
            <a:ext cx="5431536" cy="14447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9088" y="3273552"/>
            <a:ext cx="310896" cy="310896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3255264"/>
            <a:ext cx="456285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地图与到店资产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694176"/>
            <a:ext cx="4882896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高德 JS API 2.0 标记点 + 信息窗体 + 自动视野；导航/叫车走 URI 不耗服务端配额；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收藏店铺快照、到店打卡（评分/推荐菜/人均）并聚合均分。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73168"/>
            <a:ext cx="11027664" cy="1298448"/>
          </a:xfrm>
          <a:prstGeom prst="roundRect">
            <a:avLst>
              <a:gd name="adj" fmla="val 5000"/>
            </a:avLst>
          </a:prstGeom>
          <a:solidFill>
            <a:srgbClr val="1B2030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93776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Key 池与配额治理：把「不可用」做成一种正常状态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26694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7"/>
                </a:solidFill>
                <a:latin typeface="微软雅黑"/>
                <a:ea typeface="微软雅黑"/>
                <a:cs typeface="微软雅黑"/>
              </a:rPr>
              <a:t>多 Key 轮询分发 · 配额类错误（10003 / 10029）池内冷却 6 小时 · QPS 类错误（10021）短冷却 · 全池耗尽自动降级为内置离线样例并标记 degraded=true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6875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B37A"/>
                </a:solidFill>
                <a:latin typeface="微软雅黑"/>
                <a:ea typeface="微软雅黑"/>
                <a:cs typeface="微软雅黑"/>
              </a:rPr>
              <a:t>前端仍能完整演示，只是数据来源从「实时」变为「样例」—— 降级对用户可见、可解释。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68580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859536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算法一：RAG 混合检索（向量 + 词法 + RRF）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548640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05 /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目标不是炫技：在「不下载任何模型」的前提下拿到可用的语义召回。实测 62 道菜 → 99 个检索块 / 1024 维 / 293ms。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36792"/>
            <a:ext cx="11064240" cy="10972"/>
          </a:xfrm>
          <a:prstGeom prst="rect">
            <a:avLst/>
          </a:prstGeom>
          <a:solidFill>
            <a:srgbClr val="EB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寻味 · 美食推荐平台　|　第十组项目汇报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Segoe UI Semibold"/>
                <a:ea typeface="Segoe UI Semibold"/>
                <a:cs typeface="Segoe UI Semibold"/>
              </a:rPr>
              <a:t>08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2395728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63040"/>
            <a:ext cx="2395728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60934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① 切分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88366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chunker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157984"/>
            <a:ext cx="2048256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按段落/句子切 420 字、80 重叠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优先不切断步骤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chunk_id = recipe:12:0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35808" y="2359152"/>
            <a:ext cx="274320" cy="164592"/>
          </a:xfrm>
          <a:prstGeom prst="rightArrow">
            <a:avLst/>
          </a:prstGeom>
          <a:solidFill>
            <a:srgbClr val="FF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1463040"/>
            <a:ext cx="2395728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463040"/>
            <a:ext cx="2395728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0168" y="160934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② 向量召回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188366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hashing TF-IDF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2157984"/>
            <a:ext cx="2048256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char 1–3 gram + 词 bigram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hashing → 1024 维，log 饱和 TF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L2 归一化后余弦 top-N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897880" y="2359152"/>
            <a:ext cx="274320" cy="164592"/>
          </a:xfrm>
          <a:prstGeom prst="rightArrow">
            <a:avLst/>
          </a:prstGeom>
          <a:solidFill>
            <a:srgbClr val="FF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91072" y="1463040"/>
            <a:ext cx="2395728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91072" y="1463040"/>
            <a:ext cx="2395728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60934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③ 词法召回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88366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BM25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157984"/>
            <a:ext cx="2048256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自实现 BM25（k1=1.5, b=0.75）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中文 bigram 分词 + 英文数字词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统计 df / idf / avgdl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759952" y="2359152"/>
            <a:ext cx="274320" cy="164592"/>
          </a:xfrm>
          <a:prstGeom prst="rightArrow">
            <a:avLst/>
          </a:prstGeom>
          <a:solidFill>
            <a:srgbClr val="FF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53144" y="1463040"/>
            <a:ext cx="2395728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53144" y="1463040"/>
            <a:ext cx="2395728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54312" y="160934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④ 融合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2" y="188366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RRF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2157984"/>
            <a:ext cx="2048256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score = Σ 1/(60 + rank)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HYBRID_BM25_WEIGHT 调权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单路为空退化为另一路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712463"/>
            <a:ext cx="3602736" cy="1298448"/>
          </a:xfrm>
          <a:prstGeom prst="roundRect">
            <a:avLst>
              <a:gd name="adj" fmla="val 6000"/>
            </a:avLst>
          </a:prstGeom>
          <a:solidFill>
            <a:srgbClr val="FF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38404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零依赖可交付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4133087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默认 hashing 向量，不联网、不下载模型即可跑通；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可选切换 Ollama embedding，维度变化由 manifest 熔断（不匹配即重建）。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52544" y="3712463"/>
            <a:ext cx="3602736" cy="1298448"/>
          </a:xfrm>
          <a:prstGeom prst="roundRect">
            <a:avLst>
              <a:gd name="adj" fmla="val 6000"/>
            </a:avLst>
          </a:prstGeom>
          <a:solidFill>
            <a:srgbClr val="FF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38404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可解释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133087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每个 Hit 携带 title / cuisine / tags / 总时长，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前端直接把「为什么是这道菜」展示成引用卡片。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59" y="3712463"/>
            <a:ext cx="3602736" cy="1298448"/>
          </a:xfrm>
          <a:prstGeom prst="roundRect">
            <a:avLst>
              <a:gd name="adj" fmla="val 6000"/>
            </a:avLst>
          </a:prstGeom>
          <a:solidFill>
            <a:srgbClr val="FF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7615" y="38404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不炸上层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7615" y="4133087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search() 内任何异常都返回 [] 并记 warning；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索引缺失时上层自动退化为关键词检索，页面不 500。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193792"/>
            <a:ext cx="11027664" cy="8229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B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532180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i="0">
                <a:solidFill>
                  <a:srgbClr val="0F9B8E"/>
                </a:solidFill>
                <a:latin typeface="微软雅黑"/>
                <a:ea typeface="微软雅黑"/>
                <a:cs typeface="微软雅黑"/>
              </a:rPr>
              <a:t>为什么两路一起用　</a:t>
            </a:r>
            <a:r>
              <a:rPr sz="98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向量抓「意思相近但用词不同」（番茄 vs 西红柿），BM25 抓「精确词命中」（麻婆豆腐）；RRF 只看排名不看分数尺度，天然免疫两路分数量纲不一致的问题。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68580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859536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算法二：四路混合推荐 + MMR 去同质化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548640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05 /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纯 numpy / dict 实现，不引入 scipy 与 sklearn；每一路都可单测、可解释、可单独关掉。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36792"/>
            <a:ext cx="11064240" cy="10972"/>
          </a:xfrm>
          <a:prstGeom prst="rect">
            <a:avLst/>
          </a:prstGeom>
          <a:solidFill>
            <a:srgbClr val="EB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寻味 · 美食推荐平台　|　第十组项目汇报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Segoe UI Semibold"/>
                <a:ea typeface="Segoe UI Semibold"/>
                <a:cs typeface="Segoe UI Semibold"/>
              </a:rPr>
              <a:t>09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51206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0934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默认权重（settings.RECOMMEND）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9751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内容画像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043684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1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51760" y="2043684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99339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97316"/>
                </a:solidFill>
                <a:latin typeface="Segoe UI Semibold"/>
                <a:ea typeface="Segoe UI Semibold"/>
                <a:cs typeface="Segoe UI Semibold"/>
              </a:rPr>
              <a:t>0.45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54203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协同过滤 item-CF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2610612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1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51760" y="2610612"/>
            <a:ext cx="1463039" cy="182880"/>
          </a:xfrm>
          <a:prstGeom prst="roundRect">
            <a:avLst>
              <a:gd name="adj" fmla="val 50000"/>
            </a:avLst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25603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9B8E"/>
                </a:solidFill>
                <a:latin typeface="Segoe UI Semibold"/>
                <a:ea typeface="Segoe UI Semibold"/>
                <a:cs typeface="Segoe UI Semibold"/>
              </a:rPr>
              <a:t>0.30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1089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热度衰减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3177540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1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51760" y="3177540"/>
            <a:ext cx="731519" cy="182880"/>
          </a:xfrm>
          <a:prstGeom prst="roundRect">
            <a:avLst>
              <a:gd name="adj" fmla="val 50000"/>
            </a:avLst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31272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B7DD8"/>
                </a:solidFill>
                <a:latin typeface="Segoe UI Semibold"/>
                <a:ea typeface="Segoe UI Semibold"/>
                <a:cs typeface="Segoe UI Semibold"/>
              </a:rPr>
              <a:t>0.15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67588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新鲜度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3744468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1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51760" y="3744468"/>
            <a:ext cx="487680" cy="1828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36941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B5CF6"/>
                </a:solidFill>
                <a:latin typeface="Segoe UI Semibold"/>
                <a:ea typeface="Segoe UI Semibold"/>
                <a:cs typeface="Segoe UI Semibold"/>
              </a:rPr>
              <a:t>0.10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42245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四路归一化到 0–1 后加权求和，MMR 再按 λ 做批次级重排。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1463040"/>
            <a:ext cx="5650992" cy="822960"/>
          </a:xfrm>
          <a:prstGeom prst="roundRect">
            <a:avLst>
              <a:gd name="adj" fmla="val 5000"/>
            </a:avLst>
          </a:prstGeom>
          <a:solidFill>
            <a:srgbClr val="FF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44768" y="15727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内容画像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3488" y="1554480"/>
            <a:ext cx="4114800" cy="6949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菜系 / 标签权重、食材白名单、忌口、可用时长、辣度、饮食标签共同打分，同步产出中文理由（「你常吃川菜」）。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2322576"/>
            <a:ext cx="5650992" cy="822960"/>
          </a:xfrm>
          <a:prstGeom prst="roundRect">
            <a:avLst>
              <a:gd name="adj" fmla="val 5000"/>
            </a:avLst>
          </a:prstGeom>
          <a:solidFill>
            <a:srgbClr val="FF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243230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item-CF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3488" y="2414016"/>
            <a:ext cx="4114800" cy="6949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Rating(1.0) + 行为加权（view 1 / click 1.5 / favorite 3 / cook_done 4）构建稀疏矩阵，进程内缓存相似表。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3182112"/>
            <a:ext cx="5650992" cy="822960"/>
          </a:xfrm>
          <a:prstGeom prst="roundRect">
            <a:avLst>
              <a:gd name="adj" fmla="val 5000"/>
            </a:avLst>
          </a:prstGeom>
          <a:solidFill>
            <a:srgbClr val="FF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4768" y="32918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热度衰减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3488" y="3273552"/>
            <a:ext cx="4114800" cy="6949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engagement / (hours + 2)^1.5，随时间自然降温；定时命令批量回写 hot_score，避免实时算。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4041648"/>
            <a:ext cx="5650992" cy="822960"/>
          </a:xfrm>
          <a:prstGeom prst="roundRect">
            <a:avLst>
              <a:gd name="adj" fmla="val 5000"/>
            </a:avLst>
          </a:prstGeom>
          <a:solidFill>
            <a:srgbClr val="FF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44768" y="415137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MMR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33488" y="4133087"/>
            <a:ext cx="4114800" cy="6949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λ 平衡相关性与多样性，解决「一屏全是川菜」；开箱可关，方便对比实验。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4901183"/>
            <a:ext cx="5650992" cy="822960"/>
          </a:xfrm>
          <a:prstGeom prst="roundRect">
            <a:avLst>
              <a:gd name="adj" fmla="val 5000"/>
            </a:avLst>
          </a:prstGeom>
          <a:solidFill>
            <a:srgbClr val="FF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4768" y="50109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冷启动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33488" y="4992623"/>
            <a:ext cx="4114800" cy="6949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无行为数据时切换热度 + 菜系多样性铺底，新用户首屏不会空。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5797296"/>
            <a:ext cx="56692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>
                <a:solidFill>
                  <a:srgbClr val="0F9B8E"/>
                </a:solidFill>
                <a:latin typeface="微软雅黑"/>
                <a:ea typeface="微软雅黑"/>
                <a:cs typeface="微软雅黑"/>
              </a:rPr>
              <a:t>性能预算　</a:t>
            </a:r>
            <a:r>
              <a:rPr sz="95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候选集 ≤ 500 → 全流程 &lt; 200ms，缓存命中 &lt; 50ms（本地 PostgreSQL 实测）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68580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859536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工程质量：把「会挂」的地方全都设计成降级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548640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06 /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外部依赖（地图、大模型、外网、索引、数据库方言）全部收口，失败只降功能、不降可用性。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36792"/>
            <a:ext cx="11064240" cy="10972"/>
          </a:xfrm>
          <a:prstGeom prst="rect">
            <a:avLst/>
          </a:prstGeom>
          <a:solidFill>
            <a:srgbClr val="EB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寻味 · 美食推荐平台　|　第十组项目汇报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Segoe UI Semibold"/>
                <a:ea typeface="Segoe UI Semibold"/>
                <a:cs typeface="Segoe UI Semibold"/>
              </a:rPr>
              <a:t>10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44752"/>
            <a:ext cx="267004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44752"/>
            <a:ext cx="2670048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82496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97316"/>
                </a:solidFill>
                <a:latin typeface="微软雅黑"/>
                <a:ea typeface="微软雅黑"/>
                <a:cs typeface="微软雅黑"/>
              </a:rPr>
              <a:t>196</a:t>
            </a: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12848"/>
            <a:ext cx="230428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pytest 全绿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1444752"/>
            <a:ext cx="267004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0712" y="1444752"/>
            <a:ext cx="2670048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1682496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97316"/>
                </a:solidFill>
                <a:latin typeface="微软雅黑"/>
                <a:ea typeface="微软雅黑"/>
                <a:cs typeface="微软雅黑"/>
              </a:rPr>
              <a:t>74</a:t>
            </a: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212848"/>
            <a:ext cx="230428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Python 模块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444752"/>
            <a:ext cx="267004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4496" y="1444752"/>
            <a:ext cx="2670048" cy="5029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1682496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F9B8E"/>
                </a:solidFill>
                <a:latin typeface="微软雅黑"/>
                <a:ea typeface="微软雅黑"/>
                <a:cs typeface="微软雅黑"/>
              </a:rPr>
              <a:t>15,752</a:t>
            </a: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212848"/>
            <a:ext cx="230428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Python 代码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444752"/>
            <a:ext cx="267004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444752"/>
            <a:ext cx="2670048" cy="5029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59" y="1682496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F9B8E"/>
                </a:solidFill>
                <a:latin typeface="微软雅黑"/>
                <a:ea typeface="微软雅黑"/>
                <a:cs typeface="微软雅黑"/>
              </a:rPr>
              <a:t>22,000</a:t>
            </a: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2212848"/>
            <a:ext cx="230428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前端 JS/CSS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2907792"/>
            <a:ext cx="11027663" cy="347472"/>
          </a:xfrm>
          <a:prstGeom prst="roundRect">
            <a:avLst>
              <a:gd name="adj" fmla="val 4000"/>
            </a:avLst>
          </a:prstGeom>
          <a:solidFill>
            <a:srgbClr val="1B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962656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外部能力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2962656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缺失 / 异常时的行为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962656"/>
            <a:ext cx="343814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对用户的影响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310128"/>
            <a:ext cx="11027663" cy="448056"/>
          </a:xfrm>
          <a:prstGeom prst="roundRect">
            <a:avLst>
              <a:gd name="adj" fmla="val 2799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3832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高德 Key 缺失或配额耗尽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338328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返回内置离线 POI 样例，标记 degraded=true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383280"/>
            <a:ext cx="343814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附近页照常可用，标注数据来源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808476"/>
            <a:ext cx="11027663" cy="448056"/>
          </a:xfrm>
          <a:prstGeom prst="roundRect">
            <a:avLst>
              <a:gd name="adj" fmla="val 2799"/>
            </a:avLst>
          </a:prstGeom>
          <a:solidFill>
            <a:srgbClr val="FBF7F3"/>
          </a:solidFill>
          <a:ln w="9525">
            <a:solidFill>
              <a:srgbClr val="EB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88162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LLM 不可用 / 超时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388162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助手降级为检索式回答，引用照常返回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881628"/>
            <a:ext cx="343814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回答变简洁，结论仍可溯源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306824"/>
            <a:ext cx="11027663" cy="448056"/>
          </a:xfrm>
          <a:prstGeom prst="roundRect">
            <a:avLst>
              <a:gd name="adj" fmla="val 2799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37997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RAG 索引未构建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4379976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语义检索退化为关键词检索，不抛 500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379976"/>
            <a:ext cx="343814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搜索仍可用，精度略降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4805172"/>
            <a:ext cx="11027663" cy="448056"/>
          </a:xfrm>
          <a:prstGeom prst="roundRect">
            <a:avLst>
              <a:gd name="adj" fmla="val 2799"/>
            </a:avLst>
          </a:prstGeom>
          <a:solidFill>
            <a:srgbClr val="FBF7F3"/>
          </a:solidFill>
          <a:ln w="9525">
            <a:solidFill>
              <a:srgbClr val="EB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87832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外网断开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4878324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websearch 读取本地 fixtures 并标记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4878324"/>
            <a:ext cx="343814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演示链路不断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303520"/>
            <a:ext cx="11027663" cy="448056"/>
          </a:xfrm>
          <a:prstGeom prst="roundRect">
            <a:avLst>
              <a:gd name="adj" fmla="val 2799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37667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数据库方言差异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39" y="5376672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PG 守卫测试：禁裸 SQL、禁硬编码 DSN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5376672"/>
            <a:ext cx="343814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换库不改代码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5943600"/>
            <a:ext cx="11027664" cy="347472"/>
          </a:xfrm>
          <a:prstGeom prst="roundRect">
            <a:avLst>
              <a:gd name="adj" fmla="val 4000"/>
            </a:avLst>
          </a:prstGeom>
          <a:solidFill>
            <a:srgbClr val="FF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" y="599846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契约驱动并行　</a:t>
            </a:r>
            <a:r>
              <a:rPr sz="95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docs/CONTRACTS.md 固定全部函数签名 + 目录级写权限表，6 人同时改代码零冲突；序列化只走 Recipe.to_card() / to_detail() 单一出口。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68580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859536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数据规模看板：可复现的演示底座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548640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07 /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所有数字来自当前运行实例（PostgreSQL 实查），种子数据幂等，任何机器上都能一键重建。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36792"/>
            <a:ext cx="11064240" cy="10972"/>
          </a:xfrm>
          <a:prstGeom prst="rect">
            <a:avLst/>
          </a:prstGeom>
          <a:solidFill>
            <a:srgbClr val="EB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寻味 · 美食推荐平台　|　第十组项目汇报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Segoe UI Semibold"/>
                <a:ea typeface="Segoe UI Semibold"/>
                <a:cs typeface="Segoe UI Semibold"/>
              </a:rPr>
              <a:t>11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267004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63040"/>
            <a:ext cx="2670048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00784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97316"/>
                </a:solidFill>
                <a:latin typeface="微软雅黑"/>
                <a:ea typeface="微软雅黑"/>
                <a:cs typeface="微软雅黑"/>
              </a:rPr>
              <a:t>62</a:t>
            </a: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31136"/>
            <a:ext cx="230428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真实菜谱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487168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含用量、步骤、营养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1463040"/>
            <a:ext cx="267004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10712" y="1463040"/>
            <a:ext cx="2670048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1700784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97316"/>
                </a:solidFill>
                <a:latin typeface="微软雅黑"/>
                <a:ea typeface="微软雅黑"/>
                <a:cs typeface="微软雅黑"/>
              </a:rPr>
              <a:t>12</a:t>
            </a: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231136"/>
            <a:ext cx="230428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菜系分类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487168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川 / 粤 / 鲁 / 苏 / 浙…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1463040"/>
            <a:ext cx="267004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463040"/>
            <a:ext cx="2670048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1700784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97316"/>
                </a:solidFill>
                <a:latin typeface="微软雅黑"/>
                <a:ea typeface="微软雅黑"/>
                <a:cs typeface="微软雅黑"/>
              </a:rPr>
              <a:t>34</a:t>
            </a: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231136"/>
            <a:ext cx="230428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口味与场景标签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2487168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5 类 kind，可多选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1463040"/>
            <a:ext cx="267004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280" y="1463040"/>
            <a:ext cx="2670048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59" y="1700784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97316"/>
                </a:solidFill>
                <a:latin typeface="微软雅黑"/>
                <a:ea typeface="微软雅黑"/>
                <a:cs typeface="微软雅黑"/>
              </a:rPr>
              <a:t>132</a:t>
            </a: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59" y="2231136"/>
            <a:ext cx="230428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食材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59" y="2487168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带热量与营养素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200400"/>
            <a:ext cx="267004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200400"/>
            <a:ext cx="2670048" cy="5029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438144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F9B8E"/>
                </a:solidFill>
                <a:latin typeface="微软雅黑"/>
                <a:ea typeface="微软雅黑"/>
                <a:cs typeface="微软雅黑"/>
              </a:rPr>
              <a:t>553</a:t>
            </a: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968496"/>
            <a:ext cx="230428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食材用量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224528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RecipeIngredient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10712" y="3200400"/>
            <a:ext cx="267004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10712" y="3200400"/>
            <a:ext cx="2670048" cy="5029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93592" y="3438144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F9B8E"/>
                </a:solidFill>
                <a:latin typeface="微软雅黑"/>
                <a:ea typeface="微软雅黑"/>
                <a:cs typeface="微软雅黑"/>
              </a:rPr>
              <a:t>356</a:t>
            </a: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3968496"/>
            <a:ext cx="230428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制作步骤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93592" y="4224528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含单步时长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54496" y="3200400"/>
            <a:ext cx="267004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54496" y="3200400"/>
            <a:ext cx="2670048" cy="5029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37376" y="3438144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F9B8E"/>
                </a:solidFill>
                <a:latin typeface="微软雅黑"/>
                <a:ea typeface="微软雅黑"/>
                <a:cs typeface="微软雅黑"/>
              </a:rPr>
              <a:t>39</a:t>
            </a: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7376" y="3968496"/>
            <a:ext cx="230428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REST 接口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4224528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food 25 + places 14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98280" y="3200400"/>
            <a:ext cx="267004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98280" y="3200400"/>
            <a:ext cx="2670048" cy="5029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1159" y="3438144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F9B8E"/>
                </a:solidFill>
                <a:latin typeface="微软雅黑"/>
                <a:ea typeface="微软雅黑"/>
                <a:cs typeface="微软雅黑"/>
              </a:rPr>
              <a:t>196</a:t>
            </a: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59" y="3968496"/>
            <a:ext cx="230428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自动化测试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59" y="4224528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含降级与并发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5029200"/>
            <a:ext cx="11027664" cy="1170432"/>
          </a:xfrm>
          <a:prstGeom prst="roundRect">
            <a:avLst>
              <a:gd name="adj" fmla="val 5000"/>
            </a:avLst>
          </a:prstGeom>
          <a:solidFill>
            <a:srgbClr val="1B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517550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37A"/>
                </a:solidFill>
                <a:latin typeface="微软雅黑"/>
                <a:ea typeface="微软雅黑"/>
                <a:cs typeface="微软雅黑"/>
              </a:rPr>
              <a:t>行为数据与检索日志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" y="546811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143 条评分　·　208 条行为埋点　·　61 次收藏　·　搜索/对话日志全量记录</a:t>
            </a:r>
            <a:r>
              <a:rPr sz="95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　—　推荐与协同过滤的输入就来自这些真实行为，而不是造出来的假分数。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68580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859536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界面实拍：三条主路径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548640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07 /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登录 → 发现（推荐流）→ 附近（地图 + 门店列表），均为本地实例真实截图。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36792"/>
            <a:ext cx="11064240" cy="10972"/>
          </a:xfrm>
          <a:prstGeom prst="rect">
            <a:avLst/>
          </a:prstGeom>
          <a:solidFill>
            <a:srgbClr val="EB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寻味 · 美食推荐平台　|　第十组项目汇报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Segoe UI Semibold"/>
                <a:ea typeface="Segoe UI Semibold"/>
                <a:cs typeface="Segoe UI Semibold"/>
              </a:rPr>
              <a:t>12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26464"/>
            <a:ext cx="3602736" cy="3072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ui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99616"/>
            <a:ext cx="3456432" cy="19961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553712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登录页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33467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邮箱验证码登录，游客模式一键体验；左侧品牌区讲清三个卖点。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426464"/>
            <a:ext cx="3602736" cy="3072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ui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1499616"/>
            <a:ext cx="3456432" cy="19961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17136" y="4553712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发现页 · 推荐流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4846320"/>
            <a:ext cx="33467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自然语言搜索 + 场景标签 + 大家都在吃 + 按菜系逛 + 本周热门。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426464"/>
            <a:ext cx="3602736" cy="3072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ui-nearb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1" y="1499616"/>
            <a:ext cx="3456432" cy="19961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2751" y="4553712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附近页 · 门店列表 + 地图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1" y="4846320"/>
            <a:ext cx="33467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四级定位到商圈，25 家 3km 内门店，左侧列表右侧地图联动。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413248"/>
            <a:ext cx="11027664" cy="786384"/>
          </a:xfrm>
          <a:prstGeom prst="roundRect">
            <a:avLst>
              <a:gd name="adj" fmla="val 5000"/>
            </a:avLst>
          </a:prstGeom>
          <a:solidFill>
            <a:srgbClr val="FF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541264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演示脚本　</a:t>
            </a:r>
            <a:r>
              <a:rPr sz="95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登录 → 语义搜「20 分钟快手菜」→ 打开详情看推荐理由与相似菜 → 切「附近」看地图与五路排序 → 收藏 + 打卡 → 问助手「附近吃什么」，它直接调 POI 工具回答。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68580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859536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团队分工：模块级负责，契约级协作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548640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08 /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6 人并行开发同一仓库：以 CONTRACTS.md 为唯一约定，按目录划分写权限，接口一次对齐。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36792"/>
            <a:ext cx="11064240" cy="10972"/>
          </a:xfrm>
          <a:prstGeom prst="rect">
            <a:avLst/>
          </a:prstGeom>
          <a:solidFill>
            <a:srgbClr val="EB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寻味 · 美食推荐平台　|　第十组项目汇报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Segoe UI Semibold"/>
                <a:ea typeface="Segoe UI Semibold"/>
                <a:cs typeface="Segoe UI Semibold"/>
              </a:rPr>
              <a:t>13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3602736" cy="1755648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64208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孔哲昊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0299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E3CC"/>
                </a:solidFill>
                <a:latin typeface="微软雅黑"/>
                <a:ea typeface="微软雅黑"/>
                <a:cs typeface="微软雅黑"/>
              </a:rPr>
              <a:t>项目组长 · 架构与集成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22576"/>
            <a:ext cx="314553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FFEDE0"/>
                </a:solidFill>
                <a:latin typeface="微软雅黑"/>
                <a:ea typeface="微软雅黑"/>
                <a:cs typeface="微软雅黑"/>
              </a:rPr>
              <a:t>Django 配置与总路由、统一 API 约定、页面视图、LLM 客户端、契约维护、代码评审与合并、整体进度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463040"/>
            <a:ext cx="3602736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664208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彭冰钦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0299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RAG 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322576"/>
            <a:ext cx="314553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chunker 中文切分、hashing TF-IDF 向量、BM25 索引、向量库持久化、RRF 混合检索与单测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463040"/>
            <a:ext cx="3602736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3" y="1664208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姚一飞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3" y="20299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推荐引擎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3" y="2322576"/>
            <a:ext cx="314553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热度时间衰减、内容画像与推荐理由、item-CF 相似表、混合排序与 MMR 去同质化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383280"/>
            <a:ext cx="3602736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584448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贺江涛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9502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附近美食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242816"/>
            <a:ext cx="314553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高德客户端、Key 池与冷却、WGS-84/GCJ-02 坐标转换、POI 缓存、五路排序与降级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2544" y="3383280"/>
            <a:ext cx="3602736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584448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倪永硕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9502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联网采集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242816"/>
            <a:ext cx="314553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多引擎搜索、schema.org Recipe 解析、入库去重、离线 fixtures、断网降级链路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59" y="3383280"/>
            <a:ext cx="3602736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903" y="3584448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易子涵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3" y="39502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前端与数据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3" y="4242816"/>
            <a:ext cx="314553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Vue 组件与暖色设计系统、页面交互联调、地图与列表联动、种子数据与演示脚本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68580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859536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项目难点与对策：五个真实踩过的坑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548640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08 /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每个难点都有对应的工程动作，而不是「加强沟通、继续努力」这类空话。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36792"/>
            <a:ext cx="11064240" cy="10972"/>
          </a:xfrm>
          <a:prstGeom prst="rect">
            <a:avLst/>
          </a:prstGeom>
          <a:solidFill>
            <a:srgbClr val="EB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寻味 · 美食推荐平台　|　第十组项目汇报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Segoe UI Semibold"/>
                <a:ea typeface="Segoe UI Semibold"/>
                <a:cs typeface="Segoe UI Semibold"/>
              </a:rPr>
              <a:t>14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11027663" cy="365760"/>
          </a:xfrm>
          <a:prstGeom prst="roundRect">
            <a:avLst>
              <a:gd name="adj" fmla="val 4000"/>
            </a:avLst>
          </a:prstGeom>
          <a:solidFill>
            <a:srgbClr val="1B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27048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527048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527048"/>
            <a:ext cx="343814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883664"/>
            <a:ext cx="11027663" cy="713232"/>
          </a:xfrm>
          <a:prstGeom prst="roundRect">
            <a:avLst>
              <a:gd name="adj" fmla="val 2799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56816"/>
            <a:ext cx="292608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外部依赖全部不可控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（Key / 模型 / 外网）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956816"/>
            <a:ext cx="384048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分层降级 + 离线 fixtures + Key 池冷却调度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956816"/>
            <a:ext cx="3438144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零配置、断网也能完成完整演示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647188"/>
            <a:ext cx="11027663" cy="713232"/>
          </a:xfrm>
          <a:prstGeom prst="roundRect">
            <a:avLst>
              <a:gd name="adj" fmla="val 2799"/>
            </a:avLst>
          </a:prstGeom>
          <a:solidFill>
            <a:srgbClr val="FBF7F3"/>
          </a:solidFill>
          <a:ln w="9525">
            <a:solidFill>
              <a:srgbClr val="EB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720340"/>
            <a:ext cx="292608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6 人并行改同一仓库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720340"/>
            <a:ext cx="384048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契约先行（CONTRACTS.md）+ 目录级写权限表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720340"/>
            <a:ext cx="3438144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合并零冲突，接口一次对齐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410712"/>
            <a:ext cx="11027663" cy="713232"/>
          </a:xfrm>
          <a:prstGeom prst="roundRect">
            <a:avLst>
              <a:gd name="adj" fmla="val 2799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83864"/>
            <a:ext cx="292608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推荐同质化与冷启动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483864"/>
            <a:ext cx="384048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MMR 重排 + 内容画像兜底 + 热度铺底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483864"/>
            <a:ext cx="3438144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新用户首屏即有可解释推荐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174236"/>
            <a:ext cx="11027663" cy="713232"/>
          </a:xfrm>
          <a:prstGeom prst="roundRect">
            <a:avLst>
              <a:gd name="adj" fmla="val 2799"/>
            </a:avLst>
          </a:prstGeom>
          <a:solidFill>
            <a:srgbClr val="FBF7F3"/>
          </a:solidFill>
          <a:ln w="9525">
            <a:solidFill>
              <a:srgbClr val="EB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47388"/>
            <a:ext cx="292608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本地 14B 模型首 token 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247388"/>
            <a:ext cx="384048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SSE 流式输出 + 工具调用替代长上下文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247388"/>
            <a:ext cx="3438144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首字可见时间显著下降，交互不阻塞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937760"/>
            <a:ext cx="11027663" cy="713232"/>
          </a:xfrm>
          <a:prstGeom prst="roundRect">
            <a:avLst>
              <a:gd name="adj" fmla="val 2799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010912"/>
            <a:ext cx="292608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坐标系混用导致标记偏移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5010912"/>
            <a:ext cx="384048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入参 WGS-84 自动转 GCJ-02，响应 center 恒为 GCJ-02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010912"/>
            <a:ext cx="3438144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地图标记与列表位置零偏移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870448"/>
            <a:ext cx="11027664" cy="384048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9525">
            <a:solidFill>
              <a:srgbClr val="EB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94360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0F9B8E"/>
                </a:solidFill>
                <a:latin typeface="微软雅黑"/>
                <a:ea typeface="微软雅黑"/>
                <a:cs typeface="微软雅黑"/>
              </a:rPr>
              <a:t>一句话总结　</a:t>
            </a:r>
            <a:r>
              <a:rPr sz="950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我们花的力气，八成不在「把功能做出来」，而在「让功能在什么都缺的时候还能用」。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68580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859536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不足与后续规划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548640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08 /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诚实地讲清现状：哪些是真做完了，哪些只是「接口留好了」。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36792"/>
            <a:ext cx="11064240" cy="10972"/>
          </a:xfrm>
          <a:prstGeom prst="rect">
            <a:avLst/>
          </a:prstGeom>
          <a:solidFill>
            <a:srgbClr val="EB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寻味 · 美食推荐平台　|　第十组项目汇报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Segoe UI Semibold"/>
                <a:ea typeface="Segoe UI Semibold"/>
                <a:cs typeface="Segoe UI Semibold"/>
              </a:rPr>
              <a:t>15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685800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63040"/>
            <a:ext cx="50292" cy="106070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609344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索引与评估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938528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上线前固化 build_index 产物；引入 NDCG@10、召回率离线评估，配合埋点做 A/B。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615184"/>
            <a:ext cx="685800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615184"/>
            <a:ext cx="50292" cy="1060704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76148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数据资产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090672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POI 热点结果冷存 + 异步刷新，沉淀「店—菜」关联，支撑更细的推荐。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67328"/>
            <a:ext cx="685800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767328"/>
            <a:ext cx="50292" cy="1060704"/>
          </a:xfrm>
          <a:prstGeom prst="rect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913632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体验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242816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移动端 PWA 与小程序；地图聚合、路线规划、多人拼单场景。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19472"/>
            <a:ext cx="685800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BE0D6"/>
            </a:solidFill>
          </a:ln>
          <a:effectLst>
            <a:outerShdw blurRad="114300" dist="50800" dir="5400000" rotWithShape="0">
              <a:srgbClr val="40210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919472"/>
            <a:ext cx="50292" cy="10607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065776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030"/>
                </a:solidFill>
                <a:latin typeface="微软雅黑"/>
                <a:ea typeface="微软雅黑"/>
                <a:cs typeface="微软雅黑"/>
              </a:rPr>
              <a:t>风险治理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39496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高德配额与合规边界；模型幻觉用「引用强制溯源」兜底，无来源不外发。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1463040"/>
            <a:ext cx="3931920" cy="4480560"/>
          </a:xfrm>
          <a:prstGeom prst="roundRect">
            <a:avLst>
              <a:gd name="adj" fmla="val 5000"/>
            </a:avLst>
          </a:prstGeom>
          <a:solidFill>
            <a:srgbClr val="FF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18704" y="1645920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5F0A"/>
                </a:solidFill>
                <a:latin typeface="微软雅黑"/>
                <a:ea typeface="微软雅黑"/>
                <a:cs typeface="微软雅黑"/>
              </a:rPr>
              <a:t>现状自评（不美化）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8704" y="201168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9B8E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18704" y="228600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菜谱 / 推荐 / RAG / 助手 / 附近门店 / 收藏打卡，全链路可跑，196 项测试全绿。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18704" y="329184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已留口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18704" y="356616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RAG 索引与 embedding 可切换；POI 未做长期落库；单 JS Key 不做自动轮换。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8704" y="457200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686"/>
                </a:solidFill>
                <a:latin typeface="微软雅黑"/>
                <a:ea typeface="微软雅黑"/>
                <a:cs typeface="微软雅黑"/>
              </a:rPr>
              <a:t>待补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8704" y="484632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333A4D"/>
                </a:solidFill>
                <a:latin typeface="微软雅黑"/>
                <a:ea typeface="微软雅黑"/>
                <a:cs typeface="微软雅黑"/>
              </a:rPr>
              <a:t>离线评测集、A/B 实验框架、移动端适配、运维监控面板。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737360"/>
            <a:ext cx="4206240" cy="4206240"/>
          </a:xfrm>
          <a:prstGeom prst="ellipse">
            <a:avLst/>
          </a:prstGeom>
          <a:solidFill>
            <a:srgbClr val="24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480560"/>
            <a:ext cx="2926080" cy="292608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005840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B37A"/>
                </a:solidFill>
                <a:latin typeface="微软雅黑"/>
                <a:ea typeface="微软雅黑"/>
                <a:cs typeface="微软雅黑"/>
              </a:rPr>
              <a:t>THANKS FOR LISTENING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71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把「今天吃什么」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从一道选择题，做成一句话的检索。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145536"/>
            <a:ext cx="1078992" cy="685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29584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7316"/>
                </a:solidFill>
                <a:latin typeface="Segoe UI Semibold"/>
                <a:ea typeface="Segoe UI Semibold"/>
                <a:cs typeface="Segoe UI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11296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契约先行的多人协作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8404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签名先定、权限先分，再并行写码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529584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7316"/>
                </a:solidFill>
                <a:latin typeface="Segoe UI Semibold"/>
                <a:ea typeface="Segoe UI Semibold"/>
                <a:cs typeface="Segoe UI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3511296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零依赖的检索与推荐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38404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不靠模型也能有语义检索与个性化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3529584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7316"/>
                </a:solidFill>
                <a:latin typeface="Segoe UI Semibold"/>
                <a:ea typeface="Segoe UI Semibold"/>
                <a:cs typeface="Segoe UI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59" y="3511296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可降级的工程习惯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59" y="38404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1AE"/>
                </a:solidFill>
                <a:latin typeface="微软雅黑"/>
                <a:ea typeface="微软雅黑"/>
                <a:cs typeface="微软雅黑"/>
              </a:rPr>
              <a:t>把失败当常态设计，而不是当事故处理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846320"/>
            <a:ext cx="10424160" cy="10972"/>
          </a:xfrm>
          <a:prstGeom prst="rect">
            <a:avLst/>
          </a:prstGeom>
          <a:solidFill>
            <a:srgbClr val="3A4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04748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第十组　·　组长 孔哲昊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949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EB6C7"/>
                </a:solidFill>
                <a:latin typeface="微软雅黑"/>
                <a:ea typeface="微软雅黑"/>
                <a:cs typeface="微软雅黑"/>
              </a:rPr>
              <a:t>彭冰钦　姚一飞　贺江涛　倪永硕　易子涵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5074920"/>
            <a:ext cx="2240280" cy="56692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